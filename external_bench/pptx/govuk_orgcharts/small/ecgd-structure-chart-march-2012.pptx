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66273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003800"/>
    <a:srgbClr val="D3D3D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47" autoAdjust="0"/>
  </p:normalViewPr>
  <p:slideViewPr>
    <p:cSldViewPr>
      <p:cViewPr varScale="1">
        <p:scale>
          <a:sx n="99" d="100"/>
          <a:sy n="99" d="100"/>
        </p:scale>
        <p:origin x="-102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3D69C-CF5C-4343-93F9-9B6A11AE901D}" type="datetimeFigureOut">
              <a:rPr lang="en-GB" smtClean="0"/>
              <a:pPr/>
              <a:t>20/06/2012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20ABB-9380-4DA1-85C2-FDC3267E6C4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07904" y="1628800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Patrick Crawford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Chief Executive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Director General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£205,000 - £210, 000</a:t>
            </a:r>
            <a:endParaRPr lang="en-GB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92440" y="4365104"/>
            <a:ext cx="1440000" cy="540000"/>
          </a:xfrm>
          <a:prstGeom prst="rect">
            <a:avLst/>
          </a:prstGeom>
          <a:solidFill>
            <a:srgbClr val="D3D3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Carol Gradwell</a:t>
            </a:r>
          </a:p>
          <a:p>
            <a:pPr algn="ctr"/>
            <a:r>
              <a:rPr lang="en-GB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Internal </a:t>
            </a:r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Audit and Assurance Division</a:t>
            </a:r>
            <a:endParaRPr lang="en-GB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92440" y="3717032"/>
            <a:ext cx="1440000" cy="540000"/>
          </a:xfrm>
          <a:prstGeom prst="rect">
            <a:avLst/>
          </a:prstGeom>
          <a:solidFill>
            <a:srgbClr val="D3D3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Tahir Ahmed</a:t>
            </a:r>
          </a:p>
          <a:p>
            <a:pPr algn="ctr"/>
            <a:r>
              <a:rPr lang="en-GB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Chief Executive’s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0432" y="2600968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Sue Johnson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Human Resources  Division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36416" y="2600968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Nicholas Ridley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General Counsel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(Director)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£130,000 - £135,000</a:t>
            </a:r>
            <a:endParaRPr lang="en-GB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52080" y="2600968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Nigel Addison Smith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Finance Director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(Director)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£110,000 - £115, 000</a:t>
            </a:r>
            <a:endParaRPr lang="en-GB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52080" y="3717032"/>
            <a:ext cx="1440000" cy="540000"/>
          </a:xfrm>
          <a:prstGeom prst="rect">
            <a:avLst/>
          </a:prstGeom>
          <a:solidFill>
            <a:srgbClr val="D3D3D3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Cameron Fox</a:t>
            </a:r>
            <a:endParaRPr lang="en-GB" sz="7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7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Financial Controller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2080" y="4364984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Graham Cassell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Business Change and Financial Operations Division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(Temporary Deputy Director)</a:t>
            </a:r>
            <a:endParaRPr lang="en-GB" sz="7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52080" y="4977232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Lawrence Nichols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Infrastructure Division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23728" y="4977232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John Cross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Treasury Division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3728" y="4365104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Jimmy Croall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Credit Control and Portfolio Management Division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3728" y="3717032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Paul Radford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Credit Risk Analysis Division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23728" y="2600968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David Havelock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Director, Credit Risk Group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(Director)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£105,000 - £110, 000</a:t>
            </a:r>
            <a:endParaRPr lang="en-GB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5537" y="4977232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Vacant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Business Division 3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537" y="4365104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John Snowdon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Business Division 2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537" y="3717032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Gordon Welsh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Business Division 1</a:t>
            </a:r>
          </a:p>
          <a:p>
            <a:pPr algn="ctr"/>
            <a:r>
              <a:rPr lang="en-GB" sz="7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(Deputy Director)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537" y="2600968"/>
            <a:ext cx="1440000" cy="540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Steve Dodgson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Director, Business Group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(Director)</a:t>
            </a:r>
          </a:p>
          <a:p>
            <a:pPr algn="ctr"/>
            <a:r>
              <a:rPr lang="en-GB" sz="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£105,000 - £110, 000</a:t>
            </a:r>
            <a:endParaRPr lang="en-GB" sz="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Elbow Connector 24"/>
          <p:cNvCxnSpPr>
            <a:stCxn id="4" idx="2"/>
            <a:endCxn id="20" idx="0"/>
          </p:cNvCxnSpPr>
          <p:nvPr/>
        </p:nvCxnSpPr>
        <p:spPr>
          <a:xfrm rot="5400000">
            <a:off x="2555637" y="728701"/>
            <a:ext cx="432168" cy="33123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4" idx="2"/>
            <a:endCxn id="16" idx="0"/>
          </p:cNvCxnSpPr>
          <p:nvPr/>
        </p:nvCxnSpPr>
        <p:spPr>
          <a:xfrm rot="5400000">
            <a:off x="3419732" y="1592796"/>
            <a:ext cx="432168" cy="1584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4" idx="2"/>
            <a:endCxn id="9" idx="0"/>
          </p:cNvCxnSpPr>
          <p:nvPr/>
        </p:nvCxnSpPr>
        <p:spPr>
          <a:xfrm rot="16200000" flipH="1">
            <a:off x="4283908" y="2312796"/>
            <a:ext cx="432168" cy="1441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4" idx="2"/>
            <a:endCxn id="8" idx="0"/>
          </p:cNvCxnSpPr>
          <p:nvPr/>
        </p:nvCxnSpPr>
        <p:spPr>
          <a:xfrm rot="16200000" flipH="1">
            <a:off x="5076076" y="1520628"/>
            <a:ext cx="432168" cy="17285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hape 32"/>
          <p:cNvCxnSpPr>
            <a:stCxn id="4" idx="2"/>
            <a:endCxn id="7" idx="0"/>
          </p:cNvCxnSpPr>
          <p:nvPr/>
        </p:nvCxnSpPr>
        <p:spPr>
          <a:xfrm rot="16200000" flipH="1">
            <a:off x="5868084" y="728620"/>
            <a:ext cx="432168" cy="33125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0" idx="1"/>
            <a:endCxn id="19" idx="1"/>
          </p:cNvCxnSpPr>
          <p:nvPr/>
        </p:nvCxnSpPr>
        <p:spPr>
          <a:xfrm rot="10800000" flipV="1">
            <a:off x="395537" y="2870968"/>
            <a:ext cx="1588" cy="11160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20" idx="1"/>
            <a:endCxn id="18" idx="1"/>
          </p:cNvCxnSpPr>
          <p:nvPr/>
        </p:nvCxnSpPr>
        <p:spPr>
          <a:xfrm rot="10800000" flipV="1">
            <a:off x="395537" y="2870968"/>
            <a:ext cx="1588" cy="1764136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20" idx="1"/>
            <a:endCxn id="17" idx="1"/>
          </p:cNvCxnSpPr>
          <p:nvPr/>
        </p:nvCxnSpPr>
        <p:spPr>
          <a:xfrm rot="10800000" flipV="1">
            <a:off x="395537" y="2870968"/>
            <a:ext cx="1588" cy="23762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16" idx="1"/>
            <a:endCxn id="15" idx="1"/>
          </p:cNvCxnSpPr>
          <p:nvPr/>
        </p:nvCxnSpPr>
        <p:spPr>
          <a:xfrm rot="10800000" flipV="1">
            <a:off x="2123728" y="2870968"/>
            <a:ext cx="1588" cy="11160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16" idx="1"/>
            <a:endCxn id="14" idx="1"/>
          </p:cNvCxnSpPr>
          <p:nvPr/>
        </p:nvCxnSpPr>
        <p:spPr>
          <a:xfrm rot="10800000" flipV="1">
            <a:off x="2123728" y="2870968"/>
            <a:ext cx="1588" cy="1764136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16" idx="1"/>
            <a:endCxn id="13" idx="1"/>
          </p:cNvCxnSpPr>
          <p:nvPr/>
        </p:nvCxnSpPr>
        <p:spPr>
          <a:xfrm rot="10800000" flipV="1">
            <a:off x="2123728" y="2870968"/>
            <a:ext cx="1588" cy="23762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4" idx="3"/>
            <a:endCxn id="6" idx="3"/>
          </p:cNvCxnSpPr>
          <p:nvPr/>
        </p:nvCxnSpPr>
        <p:spPr>
          <a:xfrm>
            <a:off x="5147904" y="1898800"/>
            <a:ext cx="3384536" cy="2088232"/>
          </a:xfrm>
          <a:prstGeom prst="bentConnector3">
            <a:avLst>
              <a:gd name="adj1" fmla="val 10675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4" idx="3"/>
            <a:endCxn id="5" idx="3"/>
          </p:cNvCxnSpPr>
          <p:nvPr/>
        </p:nvCxnSpPr>
        <p:spPr>
          <a:xfrm>
            <a:off x="5147904" y="1898800"/>
            <a:ext cx="3384536" cy="2736304"/>
          </a:xfrm>
          <a:prstGeom prst="bentConnector3">
            <a:avLst>
              <a:gd name="adj1" fmla="val 10675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0" y="2606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ECGD Organisation Chart</a:t>
            </a:r>
            <a:endParaRPr lang="en-GB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89594" y="3284984"/>
            <a:ext cx="14461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Business Group</a:t>
            </a:r>
            <a:endParaRPr lang="en-GB" sz="1000" b="1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779912" y="3284984"/>
            <a:ext cx="14461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Finance Group</a:t>
            </a:r>
            <a:endParaRPr lang="en-GB" sz="1000" b="1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23728" y="3284984"/>
            <a:ext cx="14461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Credit Risk Group</a:t>
            </a:r>
            <a:endParaRPr lang="en-GB" sz="1000" b="1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724128" y="6525344"/>
            <a:ext cx="3312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 smtClean="0">
                <a:latin typeface="Arial" pitchFamily="34" charset="0"/>
                <a:cs typeface="Arial" pitchFamily="34" charset="0"/>
              </a:rPr>
              <a:t>This structure represents the organisation as at 31 March  2012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9" name="Elbow Connector 178"/>
          <p:cNvCxnSpPr>
            <a:stCxn id="9" idx="1"/>
            <a:endCxn id="10" idx="1"/>
          </p:cNvCxnSpPr>
          <p:nvPr/>
        </p:nvCxnSpPr>
        <p:spPr>
          <a:xfrm rot="10800000" flipV="1">
            <a:off x="3852080" y="2870968"/>
            <a:ext cx="1588" cy="11160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/>
          <p:cNvCxnSpPr>
            <a:stCxn id="9" idx="1"/>
            <a:endCxn id="11" idx="1"/>
          </p:cNvCxnSpPr>
          <p:nvPr/>
        </p:nvCxnSpPr>
        <p:spPr>
          <a:xfrm rot="10800000" flipV="1">
            <a:off x="3852080" y="2870968"/>
            <a:ext cx="1588" cy="1764016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Elbow Connector 182"/>
          <p:cNvCxnSpPr>
            <a:stCxn id="9" idx="1"/>
            <a:endCxn id="12" idx="1"/>
          </p:cNvCxnSpPr>
          <p:nvPr/>
        </p:nvCxnSpPr>
        <p:spPr>
          <a:xfrm rot="10800000" flipV="1">
            <a:off x="3852080" y="2870968"/>
            <a:ext cx="1588" cy="2376264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15888" y="6525344"/>
            <a:ext cx="3880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>
                <a:latin typeface="Arial" pitchFamily="34" charset="0"/>
                <a:cs typeface="Arial" pitchFamily="34" charset="0"/>
              </a:rPr>
              <a:t>Posts shown in green boxes above are within the Senior Civil Service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3" name="Picture 42"/>
          <p:cNvPicPr/>
          <p:nvPr/>
        </p:nvPicPr>
        <p:blipFill>
          <a:blip r:embed="rId2" cstate="print"/>
          <a:srcRect l="8197" t="11551" r="7787" b="15533"/>
          <a:stretch>
            <a:fillRect/>
          </a:stretch>
        </p:blipFill>
        <p:spPr bwMode="auto">
          <a:xfrm>
            <a:off x="179512" y="188640"/>
            <a:ext cx="19145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251520" y="914284"/>
          <a:ext cx="8568952" cy="143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1080120"/>
              </a:tblGrid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PB02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PB03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PB06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PB07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PB10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SCS1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Unit Salary Cost*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Business Group (Posts – FTE)</a:t>
                      </a:r>
                      <a:endParaRPr lang="en-GB" sz="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£2,589,044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Business Division 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£844,106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Business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Division 2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  <a:p>
                      <a:pPr algn="ctr"/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£840,634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Business Division 3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£904,304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0" y="2606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Number of Posts and Salary Costs by Group</a:t>
            </a:r>
            <a:endParaRPr lang="en-GB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79512" y="6597352"/>
            <a:ext cx="3312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>
                <a:latin typeface="Arial" pitchFamily="34" charset="0"/>
                <a:cs typeface="Arial" pitchFamily="34" charset="0"/>
              </a:rPr>
              <a:t>This  represents the organisation as at </a:t>
            </a:r>
            <a:r>
              <a:rPr lang="en-GB" sz="800" smtClean="0">
                <a:latin typeface="Arial" pitchFamily="34" charset="0"/>
                <a:cs typeface="Arial" pitchFamily="34" charset="0"/>
              </a:rPr>
              <a:t>31 March </a:t>
            </a:r>
            <a:r>
              <a:rPr lang="en-GB" sz="800" dirty="0" smtClean="0">
                <a:latin typeface="Arial" pitchFamily="34" charset="0"/>
                <a:cs typeface="Arial" pitchFamily="34" charset="0"/>
              </a:rPr>
              <a:t>2011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292080" y="6597352"/>
            <a:ext cx="3528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 smtClean="0">
                <a:latin typeface="Arial" pitchFamily="34" charset="0"/>
                <a:cs typeface="Arial" pitchFamily="34" charset="0"/>
              </a:rPr>
              <a:t>* Calculated using median basic pay per pay band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51520" y="2348880"/>
          <a:ext cx="8568952" cy="143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1080120"/>
              </a:tblGrid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Band4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PB02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PB03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PB06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PB07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PB10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SCS1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Unit Salary Cost*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Credit Risk Group</a:t>
                      </a:r>
                      <a:endParaRPr lang="en-GB" sz="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£1,657,076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Credit Control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and Portfolio Management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£440,061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Credit Risk Analysis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£783,493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Treasury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smtClean="0">
                          <a:latin typeface="Arial" pitchFamily="34" charset="0"/>
                          <a:cs typeface="Arial" pitchFamily="34" charset="0"/>
                        </a:rPr>
                        <a:t>£</a:t>
                      </a:r>
                      <a:r>
                        <a:rPr lang="en-GB" sz="800" smtClean="0">
                          <a:latin typeface="Arial" pitchFamily="34" charset="0"/>
                          <a:cs typeface="Arial" pitchFamily="34" charset="0"/>
                        </a:rPr>
                        <a:t>433,522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251520" y="3861048"/>
          <a:ext cx="8568952" cy="1434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1080120"/>
              </a:tblGrid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PB02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PB03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PB06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PB07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PB10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SCS1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Unit Salary Cost*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Finance Group</a:t>
                      </a:r>
                      <a:endParaRPr lang="en-GB" sz="8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 smtClean="0">
                          <a:latin typeface="Arial" pitchFamily="34" charset="0"/>
                          <a:cs typeface="Arial" pitchFamily="34" charset="0"/>
                        </a:rPr>
                        <a:t>£1,677,994</a:t>
                      </a:r>
                      <a:endParaRPr lang="en-GB" sz="8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Business Change and Financial Operations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£653,714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Infrastructure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£567,593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Financial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Control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£456,687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251520" y="5373216"/>
          <a:ext cx="8568952" cy="1099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720080"/>
                <a:gridCol w="1080120"/>
              </a:tblGrid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PB02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PB03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PB06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PB07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PB10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PB11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SCS1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Unit Salary Cost*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General Counsel’s Office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£777,779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Human Resources</a:t>
                      </a:r>
                      <a:r>
                        <a:rPr lang="en-GB" sz="8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Division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4.1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3.6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£671,448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8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Other</a:t>
                      </a:r>
                      <a:endParaRPr lang="en-GB" sz="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 smtClean="0"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smtClean="0">
                          <a:latin typeface="Arial" pitchFamily="34" charset="0"/>
                          <a:cs typeface="Arial" pitchFamily="34" charset="0"/>
                        </a:rPr>
                        <a:t>£550,623</a:t>
                      </a:r>
                      <a:endParaRPr lang="en-GB" sz="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/>
          <p:nvPr/>
        </p:nvPicPr>
        <p:blipFill>
          <a:blip r:embed="rId2" cstate="print"/>
          <a:srcRect l="8197" t="11551" r="7787" b="15533"/>
          <a:stretch>
            <a:fillRect/>
          </a:stretch>
        </p:blipFill>
        <p:spPr bwMode="auto">
          <a:xfrm>
            <a:off x="179512" y="116632"/>
            <a:ext cx="1656184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/>
          <p:cNvSpPr txBox="1"/>
          <p:nvPr/>
        </p:nvSpPr>
        <p:spPr>
          <a:xfrm>
            <a:off x="0" y="26064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solidFill>
                  <a:srgbClr val="003800"/>
                </a:solidFill>
                <a:latin typeface="Arial" pitchFamily="34" charset="0"/>
                <a:cs typeface="Arial" pitchFamily="34" charset="0"/>
              </a:rPr>
              <a:t>ECGD Pay Scales</a:t>
            </a:r>
            <a:endParaRPr lang="en-GB" dirty="0">
              <a:solidFill>
                <a:srgbClr val="0038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79512" y="6597352"/>
            <a:ext cx="3312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 smtClean="0">
                <a:latin typeface="Arial" pitchFamily="34" charset="0"/>
                <a:cs typeface="Arial" pitchFamily="34" charset="0"/>
              </a:rPr>
              <a:t>This  represents the organisation as at 31 March 2012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292080" y="6597352"/>
            <a:ext cx="35283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 smtClean="0">
                <a:latin typeface="Arial" pitchFamily="34" charset="0"/>
                <a:cs typeface="Arial" pitchFamily="34" charset="0"/>
              </a:rPr>
              <a:t>* Calculated using median basic pay per pay band</a:t>
            </a:r>
            <a:endParaRPr lang="en-GB" sz="8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699792" y="1950448"/>
          <a:ext cx="3644074" cy="219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90"/>
                <a:gridCol w="895667"/>
                <a:gridCol w="927417"/>
              </a:tblGrid>
              <a:tr h="274829"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Minimum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Maximum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01 (AA)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2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£18,940</a:t>
                      </a:r>
                      <a:endParaRPr lang="en-GB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02 (AO)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£20,720</a:t>
                      </a:r>
                      <a:endParaRPr lang="en-GB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£22,670</a:t>
                      </a:r>
                      <a:endParaRPr lang="en-GB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03 (</a:t>
                      </a:r>
                      <a:r>
                        <a:rPr lang="en-GB" sz="1200" b="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EO</a:t>
                      </a:r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£25,000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£27,770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06 (</a:t>
                      </a:r>
                      <a:r>
                        <a:rPr lang="en-GB" sz="1200" b="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HEO</a:t>
                      </a:r>
                      <a:r>
                        <a:rPr lang="en-GB" sz="1200" b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GB" sz="1200" b="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£28,710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£34,700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07 (</a:t>
                      </a:r>
                      <a:r>
                        <a:rPr lang="en-GB" sz="1200" dirty="0" err="1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SEO</a:t>
                      </a:r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£35,940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£43,250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Band 10 (Grade 7)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£46,210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£56,630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</a:tr>
              <a:tr h="274829">
                <a:tc>
                  <a:txBody>
                    <a:bodyPr/>
                    <a:lstStyle/>
                    <a:p>
                      <a:r>
                        <a:rPr lang="en-GB" sz="120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Pay </a:t>
                      </a:r>
                      <a:r>
                        <a:rPr lang="en-GB" sz="1200" baseline="0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Band 11 (Grade 6)</a:t>
                      </a:r>
                      <a:endParaRPr lang="en-GB" sz="12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rgbClr val="0038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£56,670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dirty="0"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£68,890</a:t>
                      </a:r>
                    </a:p>
                  </a:txBody>
                  <a:tcPr marL="12700" marR="12700" marT="12700" marB="0" anchor="b">
                    <a:solidFill>
                      <a:srgbClr val="D3D3D3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/>
          <p:cNvPicPr/>
          <p:nvPr/>
        </p:nvPicPr>
        <p:blipFill>
          <a:blip r:embed="rId2" cstate="print"/>
          <a:srcRect l="8197" t="11551" r="7787" b="15533"/>
          <a:stretch>
            <a:fillRect/>
          </a:stretch>
        </p:blipFill>
        <p:spPr bwMode="auto">
          <a:xfrm>
            <a:off x="107504" y="116632"/>
            <a:ext cx="19145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3D3D3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700" b="1" dirty="0" smtClean="0">
            <a:solidFill>
              <a:schemeClr val="tx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607</Words>
  <Application>Microsoft Office PowerPoint</Application>
  <PresentationFormat>On-screen Show (4:3)</PresentationFormat>
  <Paragraphs>278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ECGD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Rachael Waters</dc:creator>
  <cp:lastModifiedBy>kcarroll</cp:lastModifiedBy>
  <cp:revision>62</cp:revision>
  <dcterms:created xsi:type="dcterms:W3CDTF">2010-10-08T11:45:39Z</dcterms:created>
  <dcterms:modified xsi:type="dcterms:W3CDTF">2012-06-20T15:07:01Z</dcterms:modified>
</cp:coreProperties>
</file>